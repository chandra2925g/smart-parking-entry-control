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275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56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Combinational Logic &amp; the ALU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698480" y="6556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 &amp; Doing Maths: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Logic &amp; the ALU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– The First Major Computational Block of the RISC-V CPU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760720" cy="2606040"/>
          </a:xfrm>
          <a:prstGeom prst="roundRect">
            <a:avLst>
              <a:gd name="adj" fmla="val 4211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2620030600  –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JETHENDRA VARDHAN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29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2620030602  –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LAXMI PRAGYA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40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2620030606  –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 CHANDRA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519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2620030636  –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 PAUL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663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2620030675  –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SRIKRISHNA</a:t>
            </a:r>
            <a:endParaRPr lang="en-US" sz="15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11480"/>
            <a:ext cx="5029200" cy="386861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675120" y="4434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sensors give 0/1 inputs; digital logic decides slot availability and when to lift the entry barrier.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553212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0D2942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532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560320" y="55321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2834640" y="553212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0D2942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834640" y="5532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Logic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55321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5120640" y="553212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0D2942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20640" y="5532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Maths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132320" y="55321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7406640" y="553212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0D2942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06640" y="5532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418320" y="55321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9692640" y="5532120"/>
            <a:ext cx="2011680" cy="731520"/>
          </a:xfrm>
          <a:prstGeom prst="roundRect">
            <a:avLst>
              <a:gd name="adj" fmla="val 18750"/>
            </a:avLst>
          </a:prstGeom>
          <a:solidFill>
            <a:srgbClr val="00D9FF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692640" y="5532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Logic – Decisions from Current Inputs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56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Combinational Logic &amp; the ALU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556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212080" cy="2560320"/>
          </a:xfrm>
          <a:prstGeom prst="roundRect">
            <a:avLst>
              <a:gd name="adj" fmla="val 4286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097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depends only on current inputs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– nothing is stored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previous-state dependency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gates: AND, OR, NOT, XOR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arithmetic and decision-making circuits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212080" cy="2697480"/>
          </a:xfrm>
          <a:prstGeom prst="roundRect">
            <a:avLst>
              <a:gd name="adj" fmla="val 4068"/>
            </a:avLst>
          </a:prstGeom>
          <a:solidFill>
            <a:srgbClr val="0D294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5196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simple logic gates be combined to perform arithmetic, comparisons and decisions required by a CPU?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5715000" cy="3520440"/>
          </a:xfrm>
          <a:prstGeom prst="roundRect">
            <a:avLst>
              <a:gd name="adj" fmla="val 3117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051560"/>
            <a:ext cx="5349240" cy="257909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126480" y="4023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Logisim-style circuit:  A, B → AND / OR / NOT / XOR → output LED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4617720"/>
            <a:ext cx="5715000" cy="1737360"/>
          </a:xfrm>
          <a:prstGeom prst="roundRect">
            <a:avLst>
              <a:gd name="adj" fmla="val 6316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754880"/>
            <a:ext cx="5532120" cy="11986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Karnaugh Maps – Simplifying Digital Logic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56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Combinational Logic &amp; the ALU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556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2468880" cy="23317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337560" y="91440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005840"/>
            <a:ext cx="3749040" cy="215569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406640" y="914400"/>
            <a:ext cx="4251960" cy="2377440"/>
          </a:xfrm>
          <a:prstGeom prst="roundRect">
            <a:avLst>
              <a:gd name="adj" fmla="val 4615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589520" y="1024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 → K-Map → Boolean Expression → Circuit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58952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Σm(1,3,6,7) = A′C + AB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19659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gates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circuits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hardware cost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power consumption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429000"/>
            <a:ext cx="5532120" cy="3017520"/>
          </a:xfrm>
          <a:prstGeom prst="roundRect">
            <a:avLst>
              <a:gd name="adj" fmla="val 3636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–  unsimplified: 8 gates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40480"/>
            <a:ext cx="4754880" cy="262338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26480" y="3429000"/>
            <a:ext cx="5532120" cy="3017520"/>
          </a:xfrm>
          <a:prstGeom prst="roundRect">
            <a:avLst>
              <a:gd name="adj" fmla="val 3636"/>
            </a:avLst>
          </a:prstGeom>
          <a:solidFill>
            <a:srgbClr val="0D2942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09360" y="3520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–  F = A′C + AB: 4 gates  (50% fewer)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023360"/>
            <a:ext cx="53035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Circuits – Building Binary Addition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56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Combinational Logic &amp; the ALU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556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4206240" cy="2560320"/>
          </a:xfrm>
          <a:prstGeom prst="roundRect">
            <a:avLst>
              <a:gd name="adj" fmla="val 4286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  ·  Sum = A⊕B (XOR), Carry = A·B (AND)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25880"/>
            <a:ext cx="3931920" cy="206425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92040" y="914400"/>
            <a:ext cx="6766560" cy="2560320"/>
          </a:xfrm>
          <a:prstGeom prst="roundRect">
            <a:avLst>
              <a:gd name="adj" fmla="val 4286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74920" y="9875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  ·  Cin carries the overflow of the previous stage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280160"/>
            <a:ext cx="6492240" cy="219332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3611880"/>
            <a:ext cx="11109960" cy="2788920"/>
          </a:xfrm>
          <a:prstGeom prst="roundRect">
            <a:avLst>
              <a:gd name="adj" fmla="val 3934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3675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RIPPLE-CARRY ADDER  ·  four Full Adders chained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31920"/>
            <a:ext cx="7315200" cy="2692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22960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1011 + 0101 = 10000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8229600" y="44805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ripples C1 → C2 → C3 → Cout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sums to 0 and passes a carry of 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adders = longer propagation delay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Two's Complement – Building an Adder/Subtractor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56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Combinational Logic &amp; the ALU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556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3749040" cy="5440680"/>
          </a:xfrm>
          <a:prstGeom prst="roundRect">
            <a:avLst>
              <a:gd name="adj" fmla="val 2927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09728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Two's complement lets the adder also subtract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 B  (~B)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  (Cin = 1)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gates flip B when M = 1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adder, two operations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0  →  A + B   (ADD)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34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  →  A + (~B + 1)   (SUBTRACT)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394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drives both the XOR gates and the carry-in.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914400"/>
            <a:ext cx="7178040" cy="3520440"/>
          </a:xfrm>
          <a:prstGeom prst="roundRect">
            <a:avLst>
              <a:gd name="adj" fmla="val 3117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97280"/>
            <a:ext cx="6995160" cy="304917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480560" y="45720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63440" y="4681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 (M = 0)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5120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0011 + 0010 = 0101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5760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+ 2 = 5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138160" y="45720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1040" y="4681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 (M = 1)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5120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0101 + 1100 + 1 = 0010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5760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5 − 3 = 2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Routing and Comparison Blocks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56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Combinational Logic &amp; the ALU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556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1109960" cy="1508760"/>
          </a:xfrm>
          <a:prstGeom prst="roundRect">
            <a:avLst>
              <a:gd name="adj" fmla="val 7273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8778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MULTIPLEXER – data selector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1109960" cy="1508760"/>
          </a:xfrm>
          <a:prstGeom prst="roundRect">
            <a:avLst>
              <a:gd name="adj" fmla="val 7273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4323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DECODER – one active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109960" cy="2560320"/>
          </a:xfrm>
          <a:prstGeom prst="roundRect">
            <a:avLst>
              <a:gd name="adj" fmla="val 4286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9867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COMPARATOR – compares A and B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43000"/>
            <a:ext cx="2103120" cy="118872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914400"/>
            <a:ext cx="3749040" cy="1385515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914400"/>
          <a:ext cx="3108960" cy="1143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S0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 = 1,0,1,0 and S1S0 = 10 → Y = I2 = 1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697480"/>
            <a:ext cx="2103120" cy="1188720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2468880"/>
            <a:ext cx="3749040" cy="1363287"/>
          </a:xfrm>
          <a:prstGeom prst="rect">
            <a:avLst/>
          </a:prstGeom>
        </p:spPr>
      </p:pic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2468880"/>
          <a:ext cx="3108960" cy="1143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A0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0"/>
          <p:cNvSpPr txBox="1"/>
          <p:nvPr/>
        </p:nvSpPr>
        <p:spPr>
          <a:xfrm>
            <a:off x="841248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A1A0 = 10 → only Y2 is HIGH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480560"/>
            <a:ext cx="2103120" cy="1188720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8920" y="3977640"/>
            <a:ext cx="5394960" cy="2528888"/>
          </a:xfrm>
          <a:prstGeom prst="rect">
            <a:avLst/>
          </a:prstGeom>
        </p:spPr>
      </p:pic>
      <p:graphicFrame>
        <p:nvGraphicFramePr>
          <p:cNvPr id="2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4023360"/>
          <a:ext cx="3108960" cy="9753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&gt;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&lt;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1"/>
          <p:cNvSpPr txBox="1"/>
          <p:nvPr/>
        </p:nvSpPr>
        <p:spPr>
          <a:xfrm>
            <a:off x="8412480" y="51206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= A1 XNOR B1,  E0 = A0 XNOR B0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= E1·E0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= A1·B1′ + E1·A0·B0′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 = NOR(GT, EQ)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– The CPU's Calculator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56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Combinational Logic &amp; the ALU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556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138160" cy="5120640"/>
          </a:xfrm>
          <a:prstGeom prst="roundRect">
            <a:avLst>
              <a:gd name="adj" fmla="val 2143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60120"/>
            <a:ext cx="7955280" cy="50414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080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· OR · ADD/SUB · SLT run in parallel; the MUX picks one result using Op[1:0].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732520" y="868680"/>
            <a:ext cx="2926080" cy="2331720"/>
          </a:xfrm>
          <a:prstGeom prst="roundRect">
            <a:avLst>
              <a:gd name="adj" fmla="val 4706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23960" y="960120"/>
          <a:ext cx="2743200" cy="181051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Op[2:0]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732520" y="333756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86968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→ RISC-V CPU datapath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3794760"/>
            <a:ext cx="2743200" cy="16136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– A Working ALU in the Simulator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56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Combinational Logic &amp; the ALU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98480" y="65562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6217920" cy="4160520"/>
          </a:xfrm>
          <a:prstGeom prst="roundRect">
            <a:avLst>
              <a:gd name="adj" fmla="val 2637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60120"/>
            <a:ext cx="6035040" cy="399295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12280" y="868680"/>
            <a:ext cx="4846320" cy="2011680"/>
          </a:xfrm>
          <a:prstGeom prst="roundRect">
            <a:avLst>
              <a:gd name="adj" fmla="val 5455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960120"/>
          <a:ext cx="4663440" cy="1755648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12280" y="3017520"/>
            <a:ext cx="4846320" cy="2011680"/>
          </a:xfrm>
          <a:prstGeom prst="roundRect">
            <a:avLst>
              <a:gd name="adj" fmla="val 5455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949440" y="31089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12395A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949440" y="31089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Specification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9281160" y="31089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12395A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281160" y="31089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Boolean Logic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949440" y="35661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12395A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949440" y="35661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K-Map Simplification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9281160" y="35661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12395A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281160" y="35661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Circuit Design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949440" y="40233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12395A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949440" y="40233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Logisim Simulation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9281160" y="40233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12395A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281160" y="40233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Testing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949440" y="44805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00D9FF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949440" y="4480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Working ALU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57200" y="5138928"/>
            <a:ext cx="11201400" cy="914400"/>
          </a:xfrm>
          <a:prstGeom prst="roundRect">
            <a:avLst>
              <a:gd name="adj" fmla="val 12000"/>
            </a:avLst>
          </a:prstGeom>
          <a:solidFill>
            <a:srgbClr val="0D294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40080" y="5212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logic depends only on current inputs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K-maps simplify circuits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Adders do binary arithmetic; two's complement enables subtraction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MUXes route data; decoders select outputs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309360" y="52120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Comparators perform equality and ordering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blocks combine to form the ALU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ALU is a major computational subsystem of the RISC-V CPU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57200" y="6126480"/>
            <a:ext cx="11201400" cy="384048"/>
          </a:xfrm>
          <a:prstGeom prst="roundRect">
            <a:avLst>
              <a:gd name="adj" fmla="val 2381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57200" y="612648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“Working ALU Successfully Designed, Simulated and Tested.”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297FBD-55BA-3796-0A11-25D4BD253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22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840</Words>
  <Application>Microsoft Office PowerPoint</Application>
  <PresentationFormat>Widescreen</PresentationFormat>
  <Paragraphs>238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 1</cp:lastModifiedBy>
  <cp:revision>2</cp:revision>
  <dcterms:created xsi:type="dcterms:W3CDTF">2026-10-01T09:05:30Z</dcterms:created>
  <dcterms:modified xsi:type="dcterms:W3CDTF">2026-10-02T14:32:51Z</dcterms:modified>
</cp:coreProperties>
</file>