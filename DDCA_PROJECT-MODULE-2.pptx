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Roboto" panose="02000000000000000000" pitchFamily="2" charset="0"/>
      <p:regular r:id="rId11"/>
      <p:bold r:id="rId12"/>
      <p:italic r:id="rId13"/>
    </p:embeddedFont>
    <p:embeddedFont>
      <p:font typeface="Roboto Bold" panose="02000000000000000000" charset="0"/>
      <p:regular r:id="rId14"/>
    </p:embeddedFont>
    <p:embeddedFont>
      <p:font typeface="Roboto Slab" pitchFamily="2" charset="0"/>
      <p:regular r:id="rId15"/>
    </p:embeddedFont>
    <p:embeddedFont>
      <p:font typeface="Roboto Slab Light" pitchFamily="2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79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A19881-A416-FC49-8AEE-C25D86EF5EF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154BD9-A2A7-B14B-B46A-650494CFDA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210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19659"/>
            <a:ext cx="10868745" cy="168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Design and Simulation of a Smart Parking Slot Availability and Entry Control System Using Combinational Logic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2859088"/>
            <a:ext cx="10868745" cy="752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spcAft>
                <a:spcPts val="1500"/>
              </a:spcAft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2 – Making Decisions &amp; Doing Maths: Combinational Logic</a:t>
            </a:r>
            <a:endParaRPr lang="en-US" sz="1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Team Members: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61475" y="3803055"/>
            <a:ext cx="10868745" cy="1638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2620030600 – JETHENDRA VARDHAN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2620030602 – LAXMI PRAGYA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2620030606 – VEDA CHANDRA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2620030636 – CHANDRA PAUL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2620030675 – SRIKRISHNA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61475" y="5633938"/>
            <a:ext cx="10868745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project demonstrates how combinational logic can detect parking-slot availability and automatically control vehicle entry using the current sensor inputs.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0048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Problem Statement &amp; Proposed Solution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763613"/>
            <a:ext cx="6903269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Problem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661475" y="2425105"/>
            <a:ext cx="6903269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Drivers waste time searching for vacant parking spaces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Manual monitoring is inefficient and error-prone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Entry should be blocked when all parking slots are occupied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digital controller can automatically make entry decisions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4022030"/>
            <a:ext cx="6903269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Proposed Solution</a:t>
            </a:r>
            <a:endParaRPr lang="en-US" sz="2950" dirty="0"/>
          </a:p>
        </p:txBody>
      </p:sp>
      <p:sp>
        <p:nvSpPr>
          <p:cNvPr id="6" name="Text 4"/>
          <p:cNvSpPr/>
          <p:nvPr/>
        </p:nvSpPr>
        <p:spPr>
          <a:xfrm>
            <a:off x="661475" y="4683522"/>
            <a:ext cx="6903269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S1–S4:</a:t>
            </a: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Parking-slot sensors (0 = available, 1 = occupied)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E:</a:t>
            </a: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Vehicle entry request (0 = no request, 1 = request)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A:</a:t>
            </a: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Parking availability signal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G:</a:t>
            </a: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Entry permission signal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032251" y="3388816"/>
            <a:ext cx="3504219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Signal Flow:</a:t>
            </a: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Parking Sensors (S1–S4) → Availability Logic → Parking Available (A) → Entry Request (E) → Entry Control Logic → Entry Allowed / Denied (G)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1527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Combinational Logic &amp; Boolean Design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461195"/>
            <a:ext cx="6927478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Definition:</a:t>
            </a: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Combinational logic produces outputs based only on present input values. It does not store previous states.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61475" y="2073176"/>
            <a:ext cx="6927478" cy="401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Input Definitions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61475" y="2611338"/>
            <a:ext cx="6927478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S1–S4:</a:t>
            </a: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0 = Slot available, 1 = Slot occupied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E:</a:t>
            </a: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0 = No entry request, 1 = Vehicle requests entry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61475" y="3271044"/>
            <a:ext cx="6927478" cy="401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Boolean Equations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61475" y="3809206"/>
            <a:ext cx="7537063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Parking Availability: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02471" y="4323358"/>
            <a:ext cx="7296067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= ¬(S1 · S2 · S3 · S4)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61475" y="4200525"/>
            <a:ext cx="19050" cy="483394"/>
          </a:xfrm>
          <a:prstGeom prst="roundRect">
            <a:avLst>
              <a:gd name="adj" fmla="val 49999"/>
            </a:avLst>
          </a:prstGeom>
          <a:solidFill>
            <a:srgbClr val="66A8EE"/>
          </a:solidFill>
          <a:ln/>
        </p:spPr>
      </p:sp>
      <p:sp>
        <p:nvSpPr>
          <p:cNvPr id="10" name="Text 8"/>
          <p:cNvSpPr/>
          <p:nvPr/>
        </p:nvSpPr>
        <p:spPr>
          <a:xfrm>
            <a:off x="661475" y="4837509"/>
            <a:ext cx="7537063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Entry Permission: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02471" y="5351661"/>
            <a:ext cx="7296067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 = E · 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61475" y="5228828"/>
            <a:ext cx="19050" cy="483394"/>
          </a:xfrm>
          <a:prstGeom prst="roundRect">
            <a:avLst>
              <a:gd name="adj" fmla="val 49999"/>
            </a:avLst>
          </a:prstGeom>
          <a:solidFill>
            <a:srgbClr val="66A8EE"/>
          </a:solidFill>
          <a:ln/>
        </p:spPr>
      </p:sp>
      <p:sp>
        <p:nvSpPr>
          <p:cNvPr id="13" name="Text 11"/>
          <p:cNvSpPr/>
          <p:nvPr/>
        </p:nvSpPr>
        <p:spPr>
          <a:xfrm>
            <a:off x="661475" y="5865813"/>
            <a:ext cx="7537063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i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Entry is allowed only when a vehicle requests entry AND at least one parking slot is available.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4137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Truth Table &amp; K-Map Simplification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1328936"/>
            <a:ext cx="6935515" cy="378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Truth Table for Entry Control (G = E · A)</a:t>
            </a:r>
            <a:endParaRPr lang="en-US" sz="23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842988"/>
          <a:ext cx="6935514" cy="1902570"/>
        </p:xfrm>
        <a:graphic>
          <a:graphicData uri="http://schemas.openxmlformats.org/drawingml/2006/table">
            <a:tbl>
              <a:tblPr/>
              <a:tblGrid>
                <a:gridCol w="23118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18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18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86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G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7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0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0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0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7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0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0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7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0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0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86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661475" y="3894336"/>
            <a:ext cx="6935515" cy="378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Benefits of K-Map Simplification</a:t>
            </a:r>
            <a:endParaRPr lang="en-US" sz="2350" dirty="0"/>
          </a:p>
        </p:txBody>
      </p:sp>
      <p:sp>
        <p:nvSpPr>
          <p:cNvPr id="6" name="Text 3"/>
          <p:cNvSpPr/>
          <p:nvPr/>
        </p:nvSpPr>
        <p:spPr>
          <a:xfrm>
            <a:off x="661475" y="4393307"/>
            <a:ext cx="6935515" cy="1257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Fewer gates required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Lower hardware complexity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Reduced propagation delay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Lower power consumption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Easier circuit implementation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61475" y="5759648"/>
            <a:ext cx="6935515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Karnaugh maps provide a systematic method for simplifying Boolean functions before implementing them with logic gates.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6001"/>
            <a:ext cx="1086874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System Overview: End-to-End Workflow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61475" y="812403"/>
            <a:ext cx="11478330" cy="75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smart parking system operates through a seamless sequence of sensing, logical processing, and actuated control, ensuring efficient parking management and vehicle flow.</a:t>
            </a:r>
            <a:endParaRPr lang="en-US" sz="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916285"/>
            <a:ext cx="7064595" cy="397390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4918571"/>
            <a:ext cx="11478330" cy="75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diagram visualizes the complete signal path from raw sensor input to the final gate control, driven by the combinational logic we designed.</a:t>
            </a:r>
            <a:endParaRPr lang="en-US" sz="5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5022453"/>
            <a:ext cx="3622882" cy="27642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0529" y="5324078"/>
            <a:ext cx="3484773" cy="107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1. Sensor Input</a:t>
            </a:r>
            <a:endParaRPr lang="en-US" sz="650" dirty="0"/>
          </a:p>
        </p:txBody>
      </p:sp>
      <p:sp>
        <p:nvSpPr>
          <p:cNvPr id="8" name="Text 4"/>
          <p:cNvSpPr/>
          <p:nvPr/>
        </p:nvSpPr>
        <p:spPr>
          <a:xfrm>
            <a:off x="730529" y="5447109"/>
            <a:ext cx="3484773" cy="151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Occupancy sensors </a:t>
            </a:r>
            <a:r>
              <a:rPr lang="en-US" sz="50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(S1-S4)</a:t>
            </a:r>
            <a:r>
              <a:rPr lang="en-US" sz="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continuously monitor each parking slot, transmitting its status (occupied or available).</a:t>
            </a:r>
            <a:endParaRPr lang="en-US" sz="5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4357" y="5022453"/>
            <a:ext cx="3622882" cy="27642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353411" y="5324078"/>
            <a:ext cx="3484773" cy="107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2. Availability Logic</a:t>
            </a:r>
            <a:endParaRPr lang="en-US" sz="650" dirty="0"/>
          </a:p>
        </p:txBody>
      </p:sp>
      <p:sp>
        <p:nvSpPr>
          <p:cNvPr id="11" name="Text 6"/>
          <p:cNvSpPr/>
          <p:nvPr/>
        </p:nvSpPr>
        <p:spPr>
          <a:xfrm>
            <a:off x="4353411" y="5447109"/>
            <a:ext cx="3484773" cy="151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system's logic module evaluates sensor inputs to determine overall parking availability </a:t>
            </a:r>
            <a:r>
              <a:rPr lang="en-US" sz="50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(A)</a:t>
            </a:r>
            <a:r>
              <a:rPr lang="en-US" sz="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If at least one slot is free, </a:t>
            </a:r>
            <a:r>
              <a:rPr lang="en-US" sz="50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</a:t>
            </a:r>
            <a:r>
              <a:rPr lang="en-US" sz="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is true.</a:t>
            </a:r>
            <a:endParaRPr lang="en-US" sz="5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7239" y="5022453"/>
            <a:ext cx="3622882" cy="27642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976293" y="5324078"/>
            <a:ext cx="3484773" cy="107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3. Entry Request</a:t>
            </a:r>
            <a:endParaRPr lang="en-US" sz="650" dirty="0"/>
          </a:p>
        </p:txBody>
      </p:sp>
      <p:sp>
        <p:nvSpPr>
          <p:cNvPr id="14" name="Text 8"/>
          <p:cNvSpPr/>
          <p:nvPr/>
        </p:nvSpPr>
        <p:spPr>
          <a:xfrm>
            <a:off x="7976293" y="5447109"/>
            <a:ext cx="3484773" cy="151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vehicle approaching the entrance triggers an entry request signal </a:t>
            </a:r>
            <a:r>
              <a:rPr lang="en-US" sz="50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(E)</a:t>
            </a:r>
            <a:r>
              <a:rPr lang="en-US" sz="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indicating a desire to enter the parking facility.</a:t>
            </a:r>
            <a:endParaRPr lang="en-US" sz="5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475" y="5667177"/>
            <a:ext cx="3622882" cy="27642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30529" y="5968802"/>
            <a:ext cx="3484773" cy="107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4. Entry Control Logic</a:t>
            </a:r>
            <a:endParaRPr lang="en-US" sz="650" dirty="0"/>
          </a:p>
        </p:txBody>
      </p:sp>
      <p:sp>
        <p:nvSpPr>
          <p:cNvPr id="17" name="Text 10"/>
          <p:cNvSpPr/>
          <p:nvPr/>
        </p:nvSpPr>
        <p:spPr>
          <a:xfrm>
            <a:off x="730529" y="6091833"/>
            <a:ext cx="3484773" cy="81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module processes both the entry request </a:t>
            </a:r>
            <a:r>
              <a:rPr lang="en-US" sz="50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(E)</a:t>
            </a:r>
            <a:r>
              <a:rPr lang="en-US" sz="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parking availability </a:t>
            </a:r>
            <a:r>
              <a:rPr lang="en-US" sz="50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(A)</a:t>
            </a:r>
            <a:r>
              <a:rPr lang="en-US" sz="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using Boolean logic </a:t>
            </a:r>
            <a:r>
              <a:rPr lang="en-US" sz="500" i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     </a:t>
            </a:r>
            <a:r>
              <a:rPr lang="en-US" sz="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5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3049" y="6091833"/>
            <a:ext cx="296260" cy="81062"/>
          </a:xfrm>
          <a:prstGeom prst="rect">
            <a:avLst/>
          </a:prstGeom>
        </p:spPr>
      </p:pic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84357" y="5667177"/>
            <a:ext cx="3622882" cy="276423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4353411" y="5968802"/>
            <a:ext cx="3484773" cy="107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5. Gate Control Output</a:t>
            </a:r>
            <a:endParaRPr lang="en-US" sz="650" dirty="0"/>
          </a:p>
        </p:txBody>
      </p:sp>
      <p:sp>
        <p:nvSpPr>
          <p:cNvPr id="21" name="Text 12"/>
          <p:cNvSpPr/>
          <p:nvPr/>
        </p:nvSpPr>
        <p:spPr>
          <a:xfrm>
            <a:off x="4353411" y="6091833"/>
            <a:ext cx="3484773" cy="151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Based on the logic output </a:t>
            </a:r>
            <a:r>
              <a:rPr lang="en-US" sz="50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(G)</a:t>
            </a:r>
            <a:r>
              <a:rPr lang="en-US" sz="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the entry gate is either opened (permission granted) or remains closed (permission denied).</a:t>
            </a:r>
            <a:endParaRPr lang="en-US" sz="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5004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Logic-Gate Circuit Implementation &amp; Simulation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824163"/>
            <a:ext cx="5339820" cy="1089124"/>
          </a:xfrm>
          <a:prstGeom prst="roundRect">
            <a:avLst>
              <a:gd name="adj" fmla="val 2603"/>
            </a:avLst>
          </a:prstGeom>
          <a:solidFill>
            <a:srgbClr val="3F4652"/>
          </a:solidFill>
          <a:ln/>
        </p:spPr>
      </p:sp>
      <p:sp>
        <p:nvSpPr>
          <p:cNvPr id="4" name="Text 2"/>
          <p:cNvSpPr/>
          <p:nvPr/>
        </p:nvSpPr>
        <p:spPr>
          <a:xfrm>
            <a:off x="850482" y="3013174"/>
            <a:ext cx="4961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Inputs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0482" y="3421856"/>
            <a:ext cx="49618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S1, S2, S3, S4 (parking sensors) and E (entry request)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190301" y="2824163"/>
            <a:ext cx="5339919" cy="1089124"/>
          </a:xfrm>
          <a:prstGeom prst="roundRect">
            <a:avLst>
              <a:gd name="adj" fmla="val 2603"/>
            </a:avLst>
          </a:prstGeom>
          <a:solidFill>
            <a:srgbClr val="3F4652"/>
          </a:solidFill>
          <a:ln/>
        </p:spPr>
      </p:sp>
      <p:sp>
        <p:nvSpPr>
          <p:cNvPr id="7" name="Text 5"/>
          <p:cNvSpPr/>
          <p:nvPr/>
        </p:nvSpPr>
        <p:spPr>
          <a:xfrm>
            <a:off x="6379308" y="3013174"/>
            <a:ext cx="49619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Availability Logic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379308" y="3421856"/>
            <a:ext cx="49619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= ¬(S1 · S2 · S3 · S4) — NAND of all slot sensors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61475" y="4102298"/>
            <a:ext cx="5339820" cy="1089124"/>
          </a:xfrm>
          <a:prstGeom prst="roundRect">
            <a:avLst>
              <a:gd name="adj" fmla="val 2603"/>
            </a:avLst>
          </a:prstGeom>
          <a:solidFill>
            <a:srgbClr val="3F4652"/>
          </a:solidFill>
          <a:ln/>
        </p:spPr>
      </p:sp>
      <p:sp>
        <p:nvSpPr>
          <p:cNvPr id="10" name="Text 8"/>
          <p:cNvSpPr/>
          <p:nvPr/>
        </p:nvSpPr>
        <p:spPr>
          <a:xfrm>
            <a:off x="850482" y="4291310"/>
            <a:ext cx="4961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Entry Control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50482" y="4699992"/>
            <a:ext cx="49618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 = E · A — AND of entry request and availability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190301" y="4102298"/>
            <a:ext cx="5339919" cy="1089124"/>
          </a:xfrm>
          <a:prstGeom prst="roundRect">
            <a:avLst>
              <a:gd name="adj" fmla="val 2603"/>
            </a:avLst>
          </a:prstGeom>
          <a:solidFill>
            <a:srgbClr val="3F4652"/>
          </a:solidFill>
          <a:ln/>
        </p:spPr>
      </p:sp>
      <p:sp>
        <p:nvSpPr>
          <p:cNvPr id="13" name="Text 11"/>
          <p:cNvSpPr/>
          <p:nvPr/>
        </p:nvSpPr>
        <p:spPr>
          <a:xfrm>
            <a:off x="6379308" y="4291310"/>
            <a:ext cx="49619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Output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6379308" y="4699992"/>
            <a:ext cx="49619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 = 1 (Entry Allowed) or G = 0 (Entry Denied)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84510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Simulation, Testing &amp; Results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1459309"/>
            <a:ext cx="6935515" cy="378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Test Cases &amp; Results</a:t>
            </a:r>
            <a:endParaRPr lang="en-US" sz="23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973362"/>
          <a:ext cx="6935514" cy="2252604"/>
        </p:xfrm>
        <a:graphic>
          <a:graphicData uri="http://schemas.openxmlformats.org/drawingml/2006/table">
            <a:tbl>
              <a:tblPr/>
              <a:tblGrid>
                <a:gridCol w="11559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59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59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59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59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59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54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S1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S2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S3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S4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Result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4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0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0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0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0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0D4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ALLOW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4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0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0D4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ALLOW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54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0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0D4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ALLOW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54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DENY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54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0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DENY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61475" y="4374753"/>
            <a:ext cx="6935515" cy="378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Results</a:t>
            </a:r>
            <a:endParaRPr lang="en-US" sz="2350" dirty="0"/>
          </a:p>
        </p:txBody>
      </p:sp>
      <p:sp>
        <p:nvSpPr>
          <p:cNvPr id="6" name="Text 3"/>
          <p:cNvSpPr/>
          <p:nvPr/>
        </p:nvSpPr>
        <p:spPr>
          <a:xfrm>
            <a:off x="661475" y="4873724"/>
            <a:ext cx="6935515" cy="1257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Available slots are detected correctly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Entry is allowed when availability and entry request are both active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Entry is denied when all slots are occupied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Output depends only on present inputs (combinational logic verified)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Simulation confirms the design meets specifications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00088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Conclusion &amp; Future Scope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1917303"/>
            <a:ext cx="694355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61475" y="2377976"/>
            <a:ext cx="6943551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i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Smart Parking Slot Availability and Entry Control System demonstrates how combinational logic can convert parking-sensor inputs into automatic entry decisions.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61475" y="2881114"/>
            <a:ext cx="694355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Design Flow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57244" y="1408807"/>
            <a:ext cx="3579227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Future Scope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57244" y="2002334"/>
            <a:ext cx="3579227" cy="1810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Increase the number of parking slots</a:t>
            </a:r>
            <a:endParaRPr lang="en-US" sz="11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 a digital display for available spaces</a:t>
            </a:r>
            <a:endParaRPr lang="en-US" sz="11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 vehicle counting and occupancy tracking</a:t>
            </a:r>
            <a:endParaRPr lang="en-US" sz="11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 RFID/QR-based entry authentication</a:t>
            </a:r>
            <a:endParaRPr lang="en-US" sz="11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Integrate real parking sensors and actuators</a:t>
            </a:r>
            <a:endParaRPr lang="en-US" sz="11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Interface with a microcontroller or FPGA</a:t>
            </a:r>
            <a:endParaRPr lang="en-US" sz="11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 multiplexers, decoders and comparators for larger systems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1475" y="3969841"/>
            <a:ext cx="28346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61475" y="4191695"/>
            <a:ext cx="5381193" cy="19050"/>
          </a:xfrm>
          <a:prstGeom prst="rect">
            <a:avLst/>
          </a:prstGeom>
          <a:solidFill>
            <a:srgbClr val="599CE8"/>
          </a:solidFill>
          <a:ln/>
        </p:spPr>
      </p:sp>
      <p:sp>
        <p:nvSpPr>
          <p:cNvPr id="10" name="Text 8"/>
          <p:cNvSpPr/>
          <p:nvPr/>
        </p:nvSpPr>
        <p:spPr>
          <a:xfrm>
            <a:off x="661475" y="4300637"/>
            <a:ext cx="538119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Specification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148928" y="3969841"/>
            <a:ext cx="28346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48928" y="4191695"/>
            <a:ext cx="5381292" cy="19050"/>
          </a:xfrm>
          <a:prstGeom prst="rect">
            <a:avLst/>
          </a:prstGeom>
          <a:solidFill>
            <a:srgbClr val="599CE8"/>
          </a:solidFill>
          <a:ln/>
        </p:spPr>
      </p:sp>
      <p:sp>
        <p:nvSpPr>
          <p:cNvPr id="13" name="Text 11"/>
          <p:cNvSpPr/>
          <p:nvPr/>
        </p:nvSpPr>
        <p:spPr>
          <a:xfrm>
            <a:off x="6148928" y="4300637"/>
            <a:ext cx="538129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Truth Table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61475" y="4734620"/>
            <a:ext cx="28346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1475" y="4942284"/>
            <a:ext cx="5381193" cy="19050"/>
          </a:xfrm>
          <a:prstGeom prst="rect">
            <a:avLst/>
          </a:prstGeom>
          <a:solidFill>
            <a:srgbClr val="599CE8"/>
          </a:solidFill>
          <a:ln/>
        </p:spPr>
      </p:sp>
      <p:sp>
        <p:nvSpPr>
          <p:cNvPr id="16" name="Text 14"/>
          <p:cNvSpPr/>
          <p:nvPr/>
        </p:nvSpPr>
        <p:spPr>
          <a:xfrm>
            <a:off x="661475" y="5065415"/>
            <a:ext cx="538119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Boolean Expression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148928" y="4734620"/>
            <a:ext cx="28346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48928" y="4942284"/>
            <a:ext cx="5381292" cy="19050"/>
          </a:xfrm>
          <a:prstGeom prst="rect">
            <a:avLst/>
          </a:prstGeom>
          <a:solidFill>
            <a:srgbClr val="599CE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8928" y="5065415"/>
            <a:ext cx="538129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K-Map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61475" y="5499398"/>
            <a:ext cx="28346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05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61475" y="5692973"/>
            <a:ext cx="5381193" cy="19050"/>
          </a:xfrm>
          <a:prstGeom prst="rect">
            <a:avLst/>
          </a:prstGeom>
          <a:solidFill>
            <a:srgbClr val="599CE8"/>
          </a:solidFill>
          <a:ln/>
        </p:spPr>
      </p:sp>
      <p:sp>
        <p:nvSpPr>
          <p:cNvPr id="22" name="Text 20"/>
          <p:cNvSpPr/>
          <p:nvPr/>
        </p:nvSpPr>
        <p:spPr>
          <a:xfrm>
            <a:off x="661475" y="5830193"/>
            <a:ext cx="538119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Logic Circuit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148928" y="5499398"/>
            <a:ext cx="28346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06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48928" y="5692973"/>
            <a:ext cx="5381292" cy="19050"/>
          </a:xfrm>
          <a:prstGeom prst="rect">
            <a:avLst/>
          </a:prstGeom>
          <a:solidFill>
            <a:srgbClr val="599CE8"/>
          </a:solidFill>
          <a:ln/>
        </p:spPr>
      </p:sp>
      <p:sp>
        <p:nvSpPr>
          <p:cNvPr id="25" name="Text 23"/>
          <p:cNvSpPr/>
          <p:nvPr/>
        </p:nvSpPr>
        <p:spPr>
          <a:xfrm>
            <a:off x="6148928" y="5830193"/>
            <a:ext cx="538129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Simulation &amp; Testing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804</Words>
  <Application>Microsoft Office PowerPoint</Application>
  <PresentationFormat>Widescreen</PresentationFormat>
  <Paragraphs>154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Roboto Slab</vt:lpstr>
      <vt:lpstr>Roboto Slab Light</vt:lpstr>
      <vt:lpstr>Aptos</vt:lpstr>
      <vt:lpstr>Roboto</vt:lpstr>
      <vt:lpstr>Roboto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User 1</dc:creator>
  <cp:lastModifiedBy>User 1</cp:lastModifiedBy>
  <cp:revision>2</cp:revision>
  <dcterms:created xsi:type="dcterms:W3CDTF">2026-09-09T13:35:15Z</dcterms:created>
  <dcterms:modified xsi:type="dcterms:W3CDTF">2026-10-01T03:09:03Z</dcterms:modified>
</cp:coreProperties>
</file>